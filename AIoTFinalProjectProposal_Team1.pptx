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D77BCC-E38E-4C4A-9E7C-51B41F57EAC9}">
  <a:tblStyle styleId="{DED77BCC-E38E-4C4A-9E7C-51B41F57EAC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7f4b954e0_3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d7f4b954e0_3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d7f4b954e0_3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f4b954e0_4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d7f4b954e0_4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7f4b954e0_4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2fd97da2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72fd97da2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72fd97da2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2fd97da2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72fd97da2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72fd97da2_0_2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72fd97da2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72fd97da2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72fd97da2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ee3a2deb3_2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dee3a2deb3_2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ee3a2deb3_2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0083446a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e0083446a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0083446a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0083446a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e0083446a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0083446a4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0083446a4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e0083446a4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0083446a4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7f4b954e0_7_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72fd97da2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d72fd97da2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72fd97da2_0_4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7f4b954e0_14_0)">
  <p:cSld name="Generated (g3d7f4b954e0_14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6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6583680" y="457200"/>
            <a:ext cx="2560320" cy="2560320"/>
          </a:xfrm>
          <a:prstGeom prst="ellipse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" name="Google Shape;20;p4"/>
          <p:cNvSpPr/>
          <p:nvPr/>
        </p:nvSpPr>
        <p:spPr>
          <a:xfrm>
            <a:off x="7315200" y="2560320"/>
            <a:ext cx="1828800" cy="1828800"/>
          </a:xfrm>
          <a:prstGeom prst="ellipse">
            <a:avLst/>
          </a:prstGeom>
          <a:solidFill>
            <a:srgbClr val="2563EB">
              <a:alpha val="14901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" name="Google Shape;21;p4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2563EB">
              <a:alpha val="25098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" name="Google Shape;22;p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智慧電表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異常用電偵測系統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300"/>
              <a:buFont typeface="Calibri"/>
              <a:buNone/>
            </a:pPr>
            <a:r>
              <a:rPr b="0" i="1" lang="en-US" sz="16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基於非監督式機器學習的 AIoT 電力異常分析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4"/>
          <p:cNvCxnSpPr/>
          <p:nvPr/>
        </p:nvCxnSpPr>
        <p:spPr>
          <a:xfrm>
            <a:off x="457200" y="251460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/>
          <p:nvPr/>
        </p:nvSpPr>
        <p:spPr>
          <a:xfrm>
            <a:off x="457200" y="2666747"/>
            <a:ext cx="5486400" cy="20424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" name="Google Shape;27;p4"/>
          <p:cNvSpPr/>
          <p:nvPr/>
        </p:nvSpPr>
        <p:spPr>
          <a:xfrm>
            <a:off x="557125" y="2777502"/>
            <a:ext cx="51207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組員  </a:t>
            </a:r>
            <a:br>
              <a:rPr b="1" i="0" lang="en-US" sz="16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4112056045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資工三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莊明達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4112056048 資工三 鄭仲軒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4112064213 電資三 戴煦</a:t>
            </a:r>
            <a:b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組別：1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600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6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課程：AIoT  ·  指導老師：陳煥老師  · 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大綱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645878" y="804672"/>
            <a:ext cx="2651700" cy="18288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645878" y="804672"/>
            <a:ext cx="2651700" cy="411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719029" y="80467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第一章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657557" y="80467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737317" y="128016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737317" y="170078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問題背景與痛點說明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480518" y="804672"/>
            <a:ext cx="2651700" cy="182880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480518" y="804672"/>
            <a:ext cx="2651700" cy="411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553670" y="80467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第二章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92198" y="80467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1958" y="128016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1958" y="170078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文獻回顧與方法比較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645920" y="2871147"/>
            <a:ext cx="2651700" cy="18288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645920" y="2871147"/>
            <a:ext cx="2651700" cy="411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719072" y="2871147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第三章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0" y="2871147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737360" y="3346635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737360" y="3767259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架構圖與規格說明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480470" y="2862072"/>
            <a:ext cx="2651700" cy="18288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480470" y="2862072"/>
            <a:ext cx="2651700" cy="4116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553622" y="286207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四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92150" y="286207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1910" y="333756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1910" y="375818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總結與未來展望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第一章　動機 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9" name="Google Shape;69;p6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1" name="Google Shape;71;p6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" name="Google Shape;73;p6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5" name="Google Shape;75;p6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611000" y="1174300"/>
            <a:ext cx="687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我們想解決的問題：異常用電中的「竊電」偵測</a:t>
            </a:r>
            <a:endParaRPr b="1" sz="2400"/>
          </a:p>
        </p:txBody>
      </p:sp>
      <p:sp>
        <p:nvSpPr>
          <p:cNvPr id="78" name="Google Shape;78;p6"/>
          <p:cNvSpPr txBox="1"/>
          <p:nvPr/>
        </p:nvSpPr>
        <p:spPr>
          <a:xfrm>
            <a:off x="850025" y="1902250"/>
            <a:ext cx="7653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竊電佔電力非技術性損失 (Non-Technical Lost, NTL) 超過九成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Non-Technical Lost 造成的負面影響：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電力用戶需要付更多電費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浪費高額的政府補貼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造成公共安全疑慮（如透過危險的連接方式竊電）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智慧電表雖普及，但無「分析異常的功能」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6576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第一章　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 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7" name="Google Shape;87;p7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9" name="Google Shape;89;p7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" name="Google Shape;91;p7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" name="Google Shape;93;p7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8503920" y="0"/>
            <a:ext cx="640080" cy="5486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7"/>
          <p:cNvGrpSpPr/>
          <p:nvPr/>
        </p:nvGrpSpPr>
        <p:grpSpPr>
          <a:xfrm>
            <a:off x="274325" y="943108"/>
            <a:ext cx="2743263" cy="1920300"/>
            <a:chOff x="274325" y="960120"/>
            <a:chExt cx="2743263" cy="1920300"/>
          </a:xfrm>
        </p:grpSpPr>
        <p:sp>
          <p:nvSpPr>
            <p:cNvPr id="96" name="Google Shape;96;p7"/>
            <p:cNvSpPr/>
            <p:nvPr/>
          </p:nvSpPr>
          <p:spPr>
            <a:xfrm>
              <a:off x="274325" y="960120"/>
              <a:ext cx="2743200" cy="1920300"/>
            </a:xfrm>
            <a:prstGeom prst="rect">
              <a:avLst/>
            </a:prstGeom>
            <a:solidFill>
              <a:srgbClr val="FEF3C7"/>
            </a:solidFill>
            <a:ln cap="flat" cmpd="sng" w="127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27432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💸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27432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A580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~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101.2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4388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根據Northeast Group研究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全球一年非技術性損失金額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（2021年，138個國家）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6126505" y="943108"/>
            <a:ext cx="2743200" cy="1920300"/>
            <a:chOff x="3200405" y="960120"/>
            <a:chExt cx="2743200" cy="1920300"/>
          </a:xfrm>
        </p:grpSpPr>
        <p:sp>
          <p:nvSpPr>
            <p:cNvPr id="101" name="Google Shape;101;p7"/>
            <p:cNvSpPr/>
            <p:nvPr/>
          </p:nvSpPr>
          <p:spPr>
            <a:xfrm>
              <a:off x="3200405" y="960120"/>
              <a:ext cx="2743200" cy="1920300"/>
            </a:xfrm>
            <a:prstGeom prst="rect">
              <a:avLst/>
            </a:prstGeom>
            <a:solidFill>
              <a:srgbClr val="DBEAFE"/>
            </a:solidFill>
            <a:ln cap="flat" cmpd="sng" w="12700">
              <a:solidFill>
                <a:srgbClr val="1A3A6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320040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lang="en-US" sz="3000">
                  <a:latin typeface="Calibri"/>
                  <a:ea typeface="Calibri"/>
                  <a:cs typeface="Calibri"/>
                  <a:sym typeface="Calibri"/>
                </a:rPr>
                <a:t>📟 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320040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1A3A6B"/>
                  </a:solidFill>
                  <a:latin typeface="Calibri"/>
                  <a:ea typeface="Calibri"/>
                  <a:cs typeface="Calibri"/>
                  <a:sym typeface="Calibri"/>
                </a:rPr>
                <a:t>~423萬具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3337565" y="2103120"/>
              <a:ext cx="24690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台灣安裝智慧電表數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人工無法處理海量數據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t/>
              </a:r>
              <a:endParaRPr sz="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7"/>
          <p:cNvGrpSpPr/>
          <p:nvPr/>
        </p:nvGrpSpPr>
        <p:grpSpPr>
          <a:xfrm>
            <a:off x="3200430" y="943108"/>
            <a:ext cx="2743257" cy="1920300"/>
            <a:chOff x="6126480" y="960120"/>
            <a:chExt cx="2743257" cy="1920300"/>
          </a:xfrm>
        </p:grpSpPr>
        <p:sp>
          <p:nvSpPr>
            <p:cNvPr id="106" name="Google Shape;106;p7"/>
            <p:cNvSpPr/>
            <p:nvPr/>
          </p:nvSpPr>
          <p:spPr>
            <a:xfrm>
              <a:off x="6126480" y="960120"/>
              <a:ext cx="2743200" cy="1920300"/>
            </a:xfrm>
            <a:prstGeom prst="rect">
              <a:avLst/>
            </a:prstGeom>
            <a:solidFill>
              <a:srgbClr val="F4CCCC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6126480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👷</a:t>
              </a:r>
              <a:endPara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6126480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~數日至月</a:t>
              </a:r>
              <a:endParaRPr b="0" i="0" sz="3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6126537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b="0" i="0" lang="en-US" u="none" cap="none" strike="noStrike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人工抄表</a:t>
              </a: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、檢查資料之滯後性</a:t>
              </a:r>
              <a:endParaRPr b="0"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第一章　動機 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8"/>
          <p:cNvGrpSpPr/>
          <p:nvPr/>
        </p:nvGrpSpPr>
        <p:grpSpPr>
          <a:xfrm>
            <a:off x="6126505" y="943108"/>
            <a:ext cx="2743200" cy="1920300"/>
            <a:chOff x="3200405" y="960120"/>
            <a:chExt cx="2743200" cy="1920300"/>
          </a:xfrm>
        </p:grpSpPr>
        <p:sp>
          <p:nvSpPr>
            <p:cNvPr id="119" name="Google Shape;119;p8"/>
            <p:cNvSpPr/>
            <p:nvPr/>
          </p:nvSpPr>
          <p:spPr>
            <a:xfrm>
              <a:off x="3200405" y="960120"/>
              <a:ext cx="2743200" cy="1920300"/>
            </a:xfrm>
            <a:prstGeom prst="rect">
              <a:avLst/>
            </a:prstGeom>
            <a:solidFill>
              <a:srgbClr val="DBEAFE"/>
            </a:solidFill>
            <a:ln cap="flat" cmpd="sng" w="12700">
              <a:solidFill>
                <a:srgbClr val="1A3A6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320040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lang="en-US" sz="3000">
                  <a:latin typeface="Calibri"/>
                  <a:ea typeface="Calibri"/>
                  <a:cs typeface="Calibri"/>
                  <a:sym typeface="Calibri"/>
                </a:rPr>
                <a:t>📟 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320040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1A3A6B"/>
                  </a:solidFill>
                  <a:latin typeface="Calibri"/>
                  <a:ea typeface="Calibri"/>
                  <a:cs typeface="Calibri"/>
                  <a:sym typeface="Calibri"/>
                </a:rPr>
                <a:t>~423萬具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3337565" y="2103120"/>
              <a:ext cx="24690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台灣安裝智慧電表數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人工無法處理海量數據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t/>
              </a:r>
              <a:endParaRPr sz="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8"/>
          <p:cNvSpPr/>
          <p:nvPr/>
        </p:nvSpPr>
        <p:spPr>
          <a:xfrm>
            <a:off x="274320" y="29718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傳統方式的問題流程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7432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32004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人工抄表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（每月一次）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42316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246888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發現異常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（延遲數週）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61772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人工稽查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（成本高昂）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720840" y="3291840"/>
            <a:ext cx="1920300" cy="91440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76656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損失已擴大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（難以追回）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8"/>
          <p:cNvGrpSpPr/>
          <p:nvPr/>
        </p:nvGrpSpPr>
        <p:grpSpPr>
          <a:xfrm>
            <a:off x="3200430" y="943108"/>
            <a:ext cx="2743257" cy="1920300"/>
            <a:chOff x="6126480" y="960120"/>
            <a:chExt cx="2743257" cy="1920300"/>
          </a:xfrm>
        </p:grpSpPr>
        <p:sp>
          <p:nvSpPr>
            <p:cNvPr id="133" name="Google Shape;133;p8"/>
            <p:cNvSpPr/>
            <p:nvPr/>
          </p:nvSpPr>
          <p:spPr>
            <a:xfrm>
              <a:off x="6126480" y="960120"/>
              <a:ext cx="2743200" cy="1920300"/>
            </a:xfrm>
            <a:prstGeom prst="rect">
              <a:avLst/>
            </a:prstGeom>
            <a:solidFill>
              <a:srgbClr val="F4CCCC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6126480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👷</a:t>
              </a:r>
              <a:endPara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6126480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~數日至月</a:t>
              </a:r>
              <a:endParaRPr b="0" i="0" sz="3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6126537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b="0" i="0" lang="en-US" u="none" cap="none" strike="noStrike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人工抄表</a:t>
              </a: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、檢查資料之滯後性</a:t>
              </a:r>
              <a:endParaRPr b="0"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7" name="Google Shape;137;p8"/>
          <p:cNvCxnSpPr>
            <a:endCxn id="126" idx="1"/>
          </p:cNvCxnSpPr>
          <p:nvPr/>
        </p:nvCxnSpPr>
        <p:spPr>
          <a:xfrm>
            <a:off x="219456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8"/>
          <p:cNvCxnSpPr>
            <a:endCxn id="128" idx="1"/>
          </p:cNvCxnSpPr>
          <p:nvPr/>
        </p:nvCxnSpPr>
        <p:spPr>
          <a:xfrm>
            <a:off x="434340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8"/>
          <p:cNvCxnSpPr>
            <a:endCxn id="130" idx="1"/>
          </p:cNvCxnSpPr>
          <p:nvPr/>
        </p:nvCxnSpPr>
        <p:spPr>
          <a:xfrm>
            <a:off x="649224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8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1" name="Google Shape;141;p8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3" name="Google Shape;143;p8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5" name="Google Shape;145;p8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7" name="Google Shape;147;p8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8"/>
          <p:cNvGrpSpPr/>
          <p:nvPr/>
        </p:nvGrpSpPr>
        <p:grpSpPr>
          <a:xfrm>
            <a:off x="274325" y="943108"/>
            <a:ext cx="2743263" cy="1920300"/>
            <a:chOff x="274325" y="960120"/>
            <a:chExt cx="2743263" cy="1920300"/>
          </a:xfrm>
        </p:grpSpPr>
        <p:sp>
          <p:nvSpPr>
            <p:cNvPr id="149" name="Google Shape;149;p8"/>
            <p:cNvSpPr/>
            <p:nvPr/>
          </p:nvSpPr>
          <p:spPr>
            <a:xfrm>
              <a:off x="274325" y="960120"/>
              <a:ext cx="2743200" cy="1920300"/>
            </a:xfrm>
            <a:prstGeom prst="rect">
              <a:avLst/>
            </a:prstGeom>
            <a:solidFill>
              <a:srgbClr val="FEF3C7"/>
            </a:solidFill>
            <a:ln cap="flat" cmpd="sng" w="127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27432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💸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27432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A580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~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101.2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274388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根據Northeast Group研究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全球一年非技術性損失金額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（2021年，138個國家）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第一章　動機 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9"/>
          <p:cNvGrpSpPr/>
          <p:nvPr/>
        </p:nvGrpSpPr>
        <p:grpSpPr>
          <a:xfrm>
            <a:off x="6126505" y="943108"/>
            <a:ext cx="2743200" cy="1920300"/>
            <a:chOff x="3200405" y="960120"/>
            <a:chExt cx="2743200" cy="1920300"/>
          </a:xfrm>
        </p:grpSpPr>
        <p:sp>
          <p:nvSpPr>
            <p:cNvPr id="162" name="Google Shape;162;p9"/>
            <p:cNvSpPr/>
            <p:nvPr/>
          </p:nvSpPr>
          <p:spPr>
            <a:xfrm>
              <a:off x="3200405" y="960120"/>
              <a:ext cx="2743200" cy="1920300"/>
            </a:xfrm>
            <a:prstGeom prst="rect">
              <a:avLst/>
            </a:prstGeom>
            <a:solidFill>
              <a:srgbClr val="DBEAFE"/>
            </a:solidFill>
            <a:ln cap="flat" cmpd="sng" w="12700">
              <a:solidFill>
                <a:srgbClr val="1A3A6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0040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lang="en-US" sz="3000">
                  <a:latin typeface="Calibri"/>
                  <a:ea typeface="Calibri"/>
                  <a:cs typeface="Calibri"/>
                  <a:sym typeface="Calibri"/>
                </a:rPr>
                <a:t>📟 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0040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1A3A6B"/>
                  </a:solidFill>
                  <a:latin typeface="Calibri"/>
                  <a:ea typeface="Calibri"/>
                  <a:cs typeface="Calibri"/>
                  <a:sym typeface="Calibri"/>
                </a:rPr>
                <a:t>~423萬具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3337565" y="2103120"/>
              <a:ext cx="24690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台灣安裝智慧電表數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人工無法處理海量數據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t/>
              </a:r>
              <a:endParaRPr sz="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9"/>
          <p:cNvSpPr/>
          <p:nvPr/>
        </p:nvSpPr>
        <p:spPr>
          <a:xfrm>
            <a:off x="274320" y="29718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傳統方式的問題流程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7432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32004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人工抄表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（每月一次）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42316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246888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發現異常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（延遲數週）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0" y="3291840"/>
            <a:ext cx="1920300" cy="9144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61772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人工稽查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（成本高昂）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720840" y="3291840"/>
            <a:ext cx="1920300" cy="91440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766560" y="33375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損失已擴大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（難以追回）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74320" y="4315968"/>
            <a:ext cx="8595300" cy="3840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11480" y="4370832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50"/>
              <a:buFont typeface="Calibri"/>
              <a:buNone/>
            </a:pPr>
            <a:r>
              <a:rPr b="1" i="0" lang="en-US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💡  我們的目標：利用 AI 即時偵測</a:t>
            </a:r>
            <a:r>
              <a:rPr b="1" lang="en-US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海量數據中的</a:t>
            </a:r>
            <a:r>
              <a:rPr b="1" i="0" lang="en-US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異常，大幅</a:t>
            </a:r>
            <a:r>
              <a:rPr b="1" lang="en-US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提高即時性、</a:t>
            </a:r>
            <a:r>
              <a:rPr b="1" i="0" lang="en-US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降低</a:t>
            </a:r>
            <a:r>
              <a:rPr b="1" lang="en-US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人工</a:t>
            </a:r>
            <a:r>
              <a:rPr b="1" i="0" lang="en-US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成本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9"/>
          <p:cNvGrpSpPr/>
          <p:nvPr/>
        </p:nvGrpSpPr>
        <p:grpSpPr>
          <a:xfrm>
            <a:off x="3200430" y="943108"/>
            <a:ext cx="2743257" cy="1920300"/>
            <a:chOff x="6126480" y="960120"/>
            <a:chExt cx="2743257" cy="1920300"/>
          </a:xfrm>
        </p:grpSpPr>
        <p:sp>
          <p:nvSpPr>
            <p:cNvPr id="178" name="Google Shape;178;p9"/>
            <p:cNvSpPr/>
            <p:nvPr/>
          </p:nvSpPr>
          <p:spPr>
            <a:xfrm>
              <a:off x="6126480" y="960120"/>
              <a:ext cx="2743200" cy="1920300"/>
            </a:xfrm>
            <a:prstGeom prst="rect">
              <a:avLst/>
            </a:prstGeom>
            <a:solidFill>
              <a:srgbClr val="F4CCCC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6126480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👷</a:t>
              </a:r>
              <a:endPara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6126480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3A6B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~數日至月</a:t>
              </a:r>
              <a:endParaRPr b="0" i="0" sz="3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6126537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b="0" i="0" lang="en-US" u="none" cap="none" strike="noStrike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人工抄表</a:t>
              </a: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、檢查資料之滯後性</a:t>
              </a:r>
              <a:endParaRPr b="0" i="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2" name="Google Shape;182;p9"/>
          <p:cNvCxnSpPr>
            <a:endCxn id="169" idx="1"/>
          </p:cNvCxnSpPr>
          <p:nvPr/>
        </p:nvCxnSpPr>
        <p:spPr>
          <a:xfrm>
            <a:off x="219456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9"/>
          <p:cNvCxnSpPr>
            <a:endCxn id="171" idx="1"/>
          </p:cNvCxnSpPr>
          <p:nvPr/>
        </p:nvCxnSpPr>
        <p:spPr>
          <a:xfrm>
            <a:off x="434340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9"/>
          <p:cNvCxnSpPr>
            <a:endCxn id="173" idx="1"/>
          </p:cNvCxnSpPr>
          <p:nvPr/>
        </p:nvCxnSpPr>
        <p:spPr>
          <a:xfrm>
            <a:off x="649224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9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6" name="Google Shape;186;p9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8" name="Google Shape;188;p9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0" name="Google Shape;190;p9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2" name="Google Shape;192;p9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9"/>
          <p:cNvGrpSpPr/>
          <p:nvPr/>
        </p:nvGrpSpPr>
        <p:grpSpPr>
          <a:xfrm>
            <a:off x="274325" y="943108"/>
            <a:ext cx="2743263" cy="1920300"/>
            <a:chOff x="274325" y="960120"/>
            <a:chExt cx="2743263" cy="1920300"/>
          </a:xfrm>
        </p:grpSpPr>
        <p:sp>
          <p:nvSpPr>
            <p:cNvPr id="194" name="Google Shape;194;p9"/>
            <p:cNvSpPr/>
            <p:nvPr/>
          </p:nvSpPr>
          <p:spPr>
            <a:xfrm>
              <a:off x="274325" y="960120"/>
              <a:ext cx="2743200" cy="1920300"/>
            </a:xfrm>
            <a:prstGeom prst="rect">
              <a:avLst/>
            </a:prstGeom>
            <a:solidFill>
              <a:srgbClr val="FEF3C7"/>
            </a:solidFill>
            <a:ln cap="flat" cmpd="sng" w="127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274325" y="1005840"/>
              <a:ext cx="274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💸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274325" y="1463040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A580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~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b="1" lang="en-US" sz="3000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101.2</a:t>
              </a:r>
              <a:r>
                <a:rPr b="1" i="0" lang="en-US" sz="3000" u="none" cap="none" strike="noStrike">
                  <a:solidFill>
                    <a:srgbClr val="EA580C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274388" y="2103125"/>
              <a:ext cx="27432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根據Northeast Group研究</a:t>
              </a:r>
              <a:b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全球一年非技術性損失金額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850"/>
                <a:buFont typeface="Calibri"/>
                <a:buNone/>
              </a:pPr>
              <a:r>
                <a:rPr lang="en-US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（2021年，138個國家）</a:t>
              </a:r>
              <a:endParaRPr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第二章　相關研究 Related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1039093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異常檢測方法</a:t>
            </a:r>
            <a:r>
              <a:rPr b="1" i="0" lang="en-US" sz="1800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比較一覽表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10"/>
          <p:cNvGraphicFramePr/>
          <p:nvPr/>
        </p:nvGraphicFramePr>
        <p:xfrm>
          <a:off x="274320" y="1344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{DED77BCC-E38E-4C4A-9E7C-51B41F57EAC9}</a:tableStyleId>
              </a:tblPr>
              <a:tblGrid>
                <a:gridCol w="1814975"/>
                <a:gridCol w="3436850"/>
                <a:gridCol w="1671725"/>
                <a:gridCol w="1671725"/>
              </a:tblGrid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研究者（年份）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使用方法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需要標記？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硬體需求？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Jokar et al. (2016)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CPBETD (SVM + k-Means)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需要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6A34A"/>
                          </a:solidFill>
                        </a:rPr>
                        <a:t>低</a:t>
                      </a:r>
                      <a:endParaRPr b="1" sz="1600" u="none" cap="none" strike="noStrike">
                        <a:solidFill>
                          <a:srgbClr val="16A34A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Buzau </a:t>
                      </a: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et al. (20</a:t>
                      </a:r>
                      <a:r>
                        <a:rPr lang="en-US" sz="1600"/>
                        <a:t>20</a:t>
                      </a: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HNN-NTL </a:t>
                      </a:r>
                      <a:br>
                        <a:rPr lang="en-US" sz="1600"/>
                      </a:br>
                      <a:r>
                        <a:rPr lang="en-US" sz="1600"/>
                        <a:t>(LSTM + MLP → Sigmoid)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需要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高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Oprea et al. (2021)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SR-CNN + GBM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16A34A"/>
                          </a:solidFill>
                        </a:rPr>
                        <a:t>不需要 </a:t>
                      </a:r>
                      <a:endParaRPr b="1" sz="1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高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10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9" name="Google Shape;209;p10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3" name="Google Shape;213;p10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5" name="Google Shape;215;p10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第二章　相關研究 Related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503920" y="0"/>
            <a:ext cx="640080" cy="5486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274320" y="1039093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異常檢測方法</a:t>
            </a:r>
            <a:r>
              <a:rPr b="1" i="0" lang="en-US" sz="1800" u="none" cap="none" strike="noStrik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比較一覽表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1"/>
          <p:cNvGraphicFramePr/>
          <p:nvPr/>
        </p:nvGraphicFramePr>
        <p:xfrm>
          <a:off x="274320" y="1344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{DED77BCC-E38E-4C4A-9E7C-51B41F57EAC9}</a:tableStyleId>
              </a:tblPr>
              <a:tblGrid>
                <a:gridCol w="1814975"/>
                <a:gridCol w="3436850"/>
                <a:gridCol w="1671725"/>
                <a:gridCol w="1671725"/>
              </a:tblGrid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研究者（年份）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使用方法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需要標記？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硬體需求？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6B"/>
                    </a:solidFill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Jokar et al. (2016)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CPBETD (SVM + k-Means)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需要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6A34A"/>
                          </a:solidFill>
                        </a:rPr>
                        <a:t>低</a:t>
                      </a:r>
                      <a:endParaRPr b="1" sz="1600" u="none" cap="none" strike="noStrike">
                        <a:solidFill>
                          <a:srgbClr val="16A34A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Buzau </a:t>
                      </a: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et al. (20</a:t>
                      </a:r>
                      <a:r>
                        <a:rPr lang="en-US" sz="1600"/>
                        <a:t>20</a:t>
                      </a: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HNN-NTL </a:t>
                      </a:r>
                      <a:br>
                        <a:rPr lang="en-US" sz="1600"/>
                      </a:br>
                      <a:r>
                        <a:rPr lang="en-US" sz="1600"/>
                        <a:t>(LSTM + MLP → Sigmoid)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需要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高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Oprea et al. (2021)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/>
                        <a:t>SR-CNN + GBM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16A34A"/>
                          </a:solidFill>
                        </a:rPr>
                        <a:t>不需要 </a:t>
                      </a:r>
                      <a:endParaRPr b="1" sz="1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高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本</a:t>
                      </a:r>
                      <a:r>
                        <a:rPr b="1" lang="en-US" sz="1600"/>
                        <a:t>專題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Isolation Forest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6A34A"/>
                          </a:solidFill>
                        </a:rPr>
                        <a:t>不需要 </a:t>
                      </a:r>
                      <a:endParaRPr b="1"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6A34A"/>
                          </a:solidFill>
                        </a:rPr>
                        <a:t>低</a:t>
                      </a:r>
                      <a:endParaRPr b="1" sz="1600" u="none" cap="none" strike="noStrike">
                        <a:solidFill>
                          <a:srgbClr val="16A34A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1"/>
          <p:cNvSpPr/>
          <p:nvPr/>
        </p:nvSpPr>
        <p:spPr>
          <a:xfrm>
            <a:off x="274320" y="4315968"/>
            <a:ext cx="8595300" cy="384000"/>
          </a:xfrm>
          <a:prstGeom prst="rect">
            <a:avLst/>
          </a:prstGeom>
          <a:solidFill>
            <a:srgbClr val="D9EAD3"/>
          </a:solidFill>
          <a:ln cap="flat" cmpd="sng" w="127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11480" y="4370832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🎯  核心洞見：有標記的資料難以取得；Edge Computing有硬體限制。本專題對此設計解決方案。</a:t>
            </a:r>
            <a:endParaRPr b="1">
              <a:solidFill>
                <a:srgbClr val="1A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9" name="Google Shape;229;p11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3" name="Google Shape;233;p11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5" name="Google Shape;235;p11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第二章　相關研究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Related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12" title="Gemini_Generated_Image_2kx2i72kx2i72kx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850" y="945150"/>
            <a:ext cx="7010401" cy="382354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6" name="Google Shape;246;p12"/>
          <p:cNvSpPr/>
          <p:nvPr/>
        </p:nvSpPr>
        <p:spPr>
          <a:xfrm>
            <a:off x="1607785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009865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0" name="Google Shape;250;p12"/>
          <p:cNvSpPr/>
          <p:nvPr/>
        </p:nvSpPr>
        <p:spPr>
          <a:xfrm>
            <a:off x="441194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2" name="Google Shape;252;p12"/>
          <p:cNvSpPr/>
          <p:nvPr/>
        </p:nvSpPr>
        <p:spPr>
          <a:xfrm>
            <a:off x="5814035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第三章　系統設計 Proposed 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資料層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170432" y="1143000"/>
            <a:ext cx="3657600" cy="502800"/>
          </a:xfrm>
          <a:prstGeom prst="rect">
            <a:avLst/>
          </a:prstGeom>
          <a:solidFill>
            <a:srgbClr val="EFF6FF"/>
          </a:solidFill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5" name="Google Shape;265;p13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2523744" y="1261864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🗄️  </a:t>
            </a:r>
            <a:r>
              <a:rPr b="1"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UCI </a:t>
            </a: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電力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資料集</a:t>
            </a:r>
            <a:endParaRPr b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3"/>
          <p:cNvCxnSpPr/>
          <p:nvPr/>
        </p:nvCxnSpPr>
        <p:spPr>
          <a:xfrm>
            <a:off x="4828032" y="1394460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8" name="Google Shape;268;p13"/>
          <p:cNvSpPr/>
          <p:nvPr/>
        </p:nvSpPr>
        <p:spPr>
          <a:xfrm>
            <a:off x="5056632" y="1161288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5056632" y="1161288"/>
            <a:ext cx="50400" cy="466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5148100" y="1126099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3-400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多戶用電資料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13"/>
          <p:cNvGrpSpPr/>
          <p:nvPr/>
        </p:nvGrpSpPr>
        <p:grpSpPr>
          <a:xfrm>
            <a:off x="1243600" y="1199288"/>
            <a:ext cx="274209" cy="338103"/>
            <a:chOff x="1243600" y="1188825"/>
            <a:chExt cx="274209" cy="338103"/>
          </a:xfrm>
        </p:grpSpPr>
        <p:sp>
          <p:nvSpPr>
            <p:cNvPr id="272" name="Google Shape;272;p13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274" name="Google Shape;274;p13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5" name="Google Shape;275;p13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1" name="Google Shape;281;p13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第三章　系統設計 Proposed 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0" y="1810512"/>
            <a:ext cx="1097400" cy="2203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0" y="1810512"/>
            <a:ext cx="10974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運算層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170432" y="1901952"/>
            <a:ext cx="3657600" cy="502800"/>
          </a:xfrm>
          <a:prstGeom prst="rect">
            <a:avLst/>
          </a:prstGeom>
          <a:solidFill>
            <a:srgbClr val="F0FDFA"/>
          </a:solidFill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1627625" y="2075625"/>
            <a:ext cx="896100" cy="1647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14"/>
          <p:cNvSpPr/>
          <p:nvPr/>
        </p:nvSpPr>
        <p:spPr>
          <a:xfrm>
            <a:off x="1627625" y="207562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2523744" y="2020816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⚙️  資料前處理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4"/>
          <p:cNvCxnSpPr/>
          <p:nvPr/>
        </p:nvCxnSpPr>
        <p:spPr>
          <a:xfrm>
            <a:off x="4828032" y="2153412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7" name="Google Shape;297;p14"/>
          <p:cNvSpPr/>
          <p:nvPr/>
        </p:nvSpPr>
        <p:spPr>
          <a:xfrm>
            <a:off x="5056632" y="1920240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056632" y="1920240"/>
            <a:ext cx="50400" cy="466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148075" y="1901903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seed固定確認reproducibility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Lag、Rolling Statistics等特徵工程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170432" y="2660904"/>
            <a:ext cx="3657600" cy="502800"/>
          </a:xfrm>
          <a:prstGeom prst="rect">
            <a:avLst/>
          </a:prstGeom>
          <a:solidFill>
            <a:srgbClr val="FFF7ED"/>
          </a:solidFill>
          <a:ln cap="flat" cmpd="sng" w="2285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1627625" y="2834575"/>
            <a:ext cx="896100" cy="1647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p14"/>
          <p:cNvSpPr/>
          <p:nvPr/>
        </p:nvSpPr>
        <p:spPr>
          <a:xfrm>
            <a:off x="1627625" y="28345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523744" y="2779768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💉  合成異常注入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4"/>
          <p:cNvCxnSpPr/>
          <p:nvPr/>
        </p:nvCxnSpPr>
        <p:spPr>
          <a:xfrm>
            <a:off x="4828032" y="2912364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5" name="Google Shape;305;p14"/>
          <p:cNvSpPr/>
          <p:nvPr/>
        </p:nvSpPr>
        <p:spPr>
          <a:xfrm>
            <a:off x="5056632" y="2679192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5056632" y="2679192"/>
            <a:ext cx="50400" cy="4662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1170432" y="3419856"/>
            <a:ext cx="3657600" cy="502800"/>
          </a:xfrm>
          <a:prstGeom prst="rect">
            <a:avLst/>
          </a:prstGeom>
          <a:solidFill>
            <a:srgbClr val="F0FDF4"/>
          </a:solidFill>
          <a:ln cap="flat" cmpd="sng" w="228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1627625" y="3593525"/>
            <a:ext cx="896100" cy="1647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9" name="Google Shape;309;p14"/>
          <p:cNvSpPr/>
          <p:nvPr/>
        </p:nvSpPr>
        <p:spPr>
          <a:xfrm>
            <a:off x="1627625" y="359352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2523744" y="3538720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🤖 </a:t>
            </a:r>
            <a:r>
              <a:rPr b="1"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模型</a:t>
            </a: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訓練與偵測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4"/>
          <p:cNvCxnSpPr/>
          <p:nvPr/>
        </p:nvCxnSpPr>
        <p:spPr>
          <a:xfrm>
            <a:off x="4828032" y="3671316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2" name="Google Shape;312;p14"/>
          <p:cNvSpPr/>
          <p:nvPr/>
        </p:nvSpPr>
        <p:spPr>
          <a:xfrm>
            <a:off x="5056632" y="3438144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5056632" y="3438144"/>
            <a:ext cx="50400" cy="4662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5148100" y="3438075"/>
            <a:ext cx="36942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非監督式：模型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無須真正標記</a:t>
            </a:r>
            <a:endParaRPr b="0" i="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路徑短 ↔ 易被隔離 ↔ 異常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4"/>
          <p:cNvCxnSpPr>
            <a:stCxn id="316" idx="2"/>
            <a:endCxn id="292" idx="0"/>
          </p:cNvCxnSpPr>
          <p:nvPr/>
        </p:nvCxnSpPr>
        <p:spPr>
          <a:xfrm>
            <a:off x="2999232" y="1645752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14"/>
          <p:cNvCxnSpPr>
            <a:stCxn id="292" idx="2"/>
            <a:endCxn id="300" idx="0"/>
          </p:cNvCxnSpPr>
          <p:nvPr/>
        </p:nvCxnSpPr>
        <p:spPr>
          <a:xfrm>
            <a:off x="2999232" y="2404752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14"/>
          <p:cNvCxnSpPr>
            <a:stCxn id="300" idx="2"/>
            <a:endCxn id="307" idx="0"/>
          </p:cNvCxnSpPr>
          <p:nvPr/>
        </p:nvCxnSpPr>
        <p:spPr>
          <a:xfrm>
            <a:off x="2999232" y="3163704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14"/>
          <p:cNvSpPr txBox="1"/>
          <p:nvPr/>
        </p:nvSpPr>
        <p:spPr>
          <a:xfrm>
            <a:off x="1767850" y="1569200"/>
            <a:ext cx="33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20" name="Google Shape;320;p14"/>
          <p:cNvGrpSpPr/>
          <p:nvPr/>
        </p:nvGrpSpPr>
        <p:grpSpPr>
          <a:xfrm>
            <a:off x="1243600" y="1958238"/>
            <a:ext cx="274209" cy="338103"/>
            <a:chOff x="1243600" y="1188825"/>
            <a:chExt cx="274209" cy="338103"/>
          </a:xfrm>
        </p:grpSpPr>
        <p:sp>
          <p:nvSpPr>
            <p:cNvPr id="321" name="Google Shape;321;p14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323" name="Google Shape;323;p14"/>
          <p:cNvGrpSpPr/>
          <p:nvPr/>
        </p:nvGrpSpPr>
        <p:grpSpPr>
          <a:xfrm>
            <a:off x="1243600" y="2717188"/>
            <a:ext cx="274209" cy="338103"/>
            <a:chOff x="1243600" y="1188825"/>
            <a:chExt cx="274209" cy="338103"/>
          </a:xfrm>
        </p:grpSpPr>
        <p:sp>
          <p:nvSpPr>
            <p:cNvPr id="324" name="Google Shape;324;p14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EA580C"/>
            </a:solidFill>
            <a:ln cap="flat" cmpd="sng" w="127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326" name="Google Shape;326;p14"/>
          <p:cNvGrpSpPr/>
          <p:nvPr/>
        </p:nvGrpSpPr>
        <p:grpSpPr>
          <a:xfrm>
            <a:off x="1243600" y="3476138"/>
            <a:ext cx="274209" cy="338103"/>
            <a:chOff x="1243600" y="1188825"/>
            <a:chExt cx="274209" cy="338103"/>
          </a:xfrm>
        </p:grpSpPr>
        <p:sp>
          <p:nvSpPr>
            <p:cNvPr id="327" name="Google Shape;327;p14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16A34A"/>
            </a:solidFill>
            <a:ln cap="flat" cmpd="sng" w="127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4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329" name="Google Shape;329;p14"/>
          <p:cNvSpPr/>
          <p:nvPr/>
        </p:nvSpPr>
        <p:spPr>
          <a:xfrm>
            <a:off x="5148100" y="2670028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依據Jokar et al.描述的方法注入異常資料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資料層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1170432" y="1143000"/>
            <a:ext cx="3657600" cy="502800"/>
          </a:xfrm>
          <a:prstGeom prst="rect">
            <a:avLst/>
          </a:prstGeom>
          <a:solidFill>
            <a:srgbClr val="EFF6FF"/>
          </a:solidFill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14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2523744" y="1261864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🗄️  </a:t>
            </a:r>
            <a:r>
              <a:rPr b="1"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UCI </a:t>
            </a: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電力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資料集</a:t>
            </a:r>
            <a:endParaRPr b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4828032" y="1394460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7" name="Google Shape;337;p14"/>
          <p:cNvSpPr/>
          <p:nvPr/>
        </p:nvSpPr>
        <p:spPr>
          <a:xfrm>
            <a:off x="5056632" y="1161288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056632" y="1161288"/>
            <a:ext cx="50400" cy="466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148100" y="1126099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3-400多戶用電資料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" name="Google Shape;340;p14"/>
          <p:cNvGrpSpPr/>
          <p:nvPr/>
        </p:nvGrpSpPr>
        <p:grpSpPr>
          <a:xfrm>
            <a:off x="1243600" y="1199288"/>
            <a:ext cx="274209" cy="338103"/>
            <a:chOff x="1243600" y="1188825"/>
            <a:chExt cx="274209" cy="338103"/>
          </a:xfrm>
        </p:grpSpPr>
        <p:sp>
          <p:nvSpPr>
            <p:cNvPr id="341" name="Google Shape;341;p14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343" name="Google Shape;343;p14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4" name="Google Shape;344;p14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0" name="Google Shape;350;p14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0" y="0"/>
            <a:ext cx="9144000" cy="567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36576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第三章　系統設計 Proposed 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503920" y="0"/>
            <a:ext cx="640200" cy="548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0" y="1810512"/>
            <a:ext cx="1097400" cy="2203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0" y="1810512"/>
            <a:ext cx="10974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運算層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0" y="4087368"/>
            <a:ext cx="1097400" cy="6858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0" y="4087368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應用層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170432" y="1901952"/>
            <a:ext cx="3657600" cy="502800"/>
          </a:xfrm>
          <a:prstGeom prst="rect">
            <a:avLst/>
          </a:prstGeom>
          <a:solidFill>
            <a:srgbClr val="F0FDFA"/>
          </a:solidFill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1627625" y="2075625"/>
            <a:ext cx="896100" cy="1647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5" name="Google Shape;365;p15"/>
          <p:cNvSpPr/>
          <p:nvPr/>
        </p:nvSpPr>
        <p:spPr>
          <a:xfrm>
            <a:off x="1627625" y="207562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2523744" y="2020816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⚙️  資料前處理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15"/>
          <p:cNvCxnSpPr/>
          <p:nvPr/>
        </p:nvCxnSpPr>
        <p:spPr>
          <a:xfrm>
            <a:off x="4828032" y="2153412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8" name="Google Shape;368;p15"/>
          <p:cNvSpPr/>
          <p:nvPr/>
        </p:nvSpPr>
        <p:spPr>
          <a:xfrm>
            <a:off x="5056632" y="1920240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5056632" y="1920240"/>
            <a:ext cx="50400" cy="466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5148075" y="1901903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seed固定確認reproducibility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Lag、Rolling Statistics等特徵工程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70432" y="2660904"/>
            <a:ext cx="3657600" cy="502800"/>
          </a:xfrm>
          <a:prstGeom prst="rect">
            <a:avLst/>
          </a:prstGeom>
          <a:solidFill>
            <a:srgbClr val="FFF7ED"/>
          </a:solidFill>
          <a:ln cap="flat" cmpd="sng" w="2285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627625" y="2834575"/>
            <a:ext cx="896100" cy="1647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3" name="Google Shape;373;p15"/>
          <p:cNvSpPr/>
          <p:nvPr/>
        </p:nvSpPr>
        <p:spPr>
          <a:xfrm>
            <a:off x="1627625" y="28345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2523744" y="2779768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💉  合成異常注入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5"/>
          <p:cNvCxnSpPr/>
          <p:nvPr/>
        </p:nvCxnSpPr>
        <p:spPr>
          <a:xfrm>
            <a:off x="4828032" y="2912364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6" name="Google Shape;376;p15"/>
          <p:cNvSpPr/>
          <p:nvPr/>
        </p:nvSpPr>
        <p:spPr>
          <a:xfrm>
            <a:off x="5056632" y="2679192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056632" y="2679192"/>
            <a:ext cx="50400" cy="4662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170432" y="3419856"/>
            <a:ext cx="3657600" cy="502800"/>
          </a:xfrm>
          <a:prstGeom prst="rect">
            <a:avLst/>
          </a:prstGeom>
          <a:solidFill>
            <a:srgbClr val="F0FDF4"/>
          </a:solidFill>
          <a:ln cap="flat" cmpd="sng" w="228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627625" y="3593525"/>
            <a:ext cx="896100" cy="1647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0" name="Google Shape;380;p15"/>
          <p:cNvSpPr/>
          <p:nvPr/>
        </p:nvSpPr>
        <p:spPr>
          <a:xfrm>
            <a:off x="1627625" y="359352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2523744" y="3538720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🤖 </a:t>
            </a:r>
            <a:r>
              <a:rPr b="1"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模型</a:t>
            </a: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訓練與偵測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5"/>
          <p:cNvCxnSpPr/>
          <p:nvPr/>
        </p:nvCxnSpPr>
        <p:spPr>
          <a:xfrm>
            <a:off x="4828032" y="3671316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3" name="Google Shape;383;p15"/>
          <p:cNvSpPr/>
          <p:nvPr/>
        </p:nvSpPr>
        <p:spPr>
          <a:xfrm>
            <a:off x="5056632" y="3438144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5056632" y="3438144"/>
            <a:ext cx="50400" cy="4662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5148100" y="3438075"/>
            <a:ext cx="36942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非監督式：模型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無須真正標記</a:t>
            </a:r>
            <a:endParaRPr b="0" i="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路徑短 ↔ 易被隔離 ↔ 異常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1170432" y="4178808"/>
            <a:ext cx="3657600" cy="502800"/>
          </a:xfrm>
          <a:prstGeom prst="rect">
            <a:avLst/>
          </a:prstGeom>
          <a:solidFill>
            <a:srgbClr val="EFF6FF"/>
          </a:solidFill>
          <a:ln cap="flat" cmpd="sng" w="2285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1627625" y="4352475"/>
            <a:ext cx="896100" cy="164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8" name="Google Shape;388;p15"/>
          <p:cNvSpPr/>
          <p:nvPr/>
        </p:nvSpPr>
        <p:spPr>
          <a:xfrm>
            <a:off x="1627625" y="43524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2523744" y="4297672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📊  Streamlit輸出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15"/>
          <p:cNvCxnSpPr/>
          <p:nvPr/>
        </p:nvCxnSpPr>
        <p:spPr>
          <a:xfrm>
            <a:off x="4828032" y="4430268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1" name="Google Shape;391;p15"/>
          <p:cNvSpPr/>
          <p:nvPr/>
        </p:nvSpPr>
        <p:spPr>
          <a:xfrm>
            <a:off x="5056632" y="4197096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5056632" y="4197096"/>
            <a:ext cx="50400" cy="466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148100" y="4197132"/>
            <a:ext cx="3694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異常點即時標示於時序圖</a:t>
            </a:r>
            <a:endParaRPr b="0" i="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可匯出異常事件 Log 供後續稽查使用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5"/>
          <p:cNvCxnSpPr>
            <a:stCxn id="395" idx="2"/>
            <a:endCxn id="363" idx="0"/>
          </p:cNvCxnSpPr>
          <p:nvPr/>
        </p:nvCxnSpPr>
        <p:spPr>
          <a:xfrm>
            <a:off x="2999232" y="1645752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15"/>
          <p:cNvCxnSpPr>
            <a:stCxn id="363" idx="2"/>
            <a:endCxn id="371" idx="0"/>
          </p:cNvCxnSpPr>
          <p:nvPr/>
        </p:nvCxnSpPr>
        <p:spPr>
          <a:xfrm>
            <a:off x="2999232" y="2404752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15"/>
          <p:cNvCxnSpPr>
            <a:stCxn id="371" idx="2"/>
            <a:endCxn id="378" idx="0"/>
          </p:cNvCxnSpPr>
          <p:nvPr/>
        </p:nvCxnSpPr>
        <p:spPr>
          <a:xfrm>
            <a:off x="2999232" y="3163704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15"/>
          <p:cNvCxnSpPr>
            <a:stCxn id="378" idx="2"/>
            <a:endCxn id="386" idx="0"/>
          </p:cNvCxnSpPr>
          <p:nvPr/>
        </p:nvCxnSpPr>
        <p:spPr>
          <a:xfrm>
            <a:off x="2999232" y="3922656"/>
            <a:ext cx="0" cy="2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9" name="Google Shape;399;p15"/>
          <p:cNvSpPr txBox="1"/>
          <p:nvPr/>
        </p:nvSpPr>
        <p:spPr>
          <a:xfrm>
            <a:off x="1767850" y="1569200"/>
            <a:ext cx="33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00" name="Google Shape;400;p15"/>
          <p:cNvGrpSpPr/>
          <p:nvPr/>
        </p:nvGrpSpPr>
        <p:grpSpPr>
          <a:xfrm>
            <a:off x="1243600" y="1958238"/>
            <a:ext cx="274209" cy="338103"/>
            <a:chOff x="1243600" y="1188825"/>
            <a:chExt cx="274209" cy="338103"/>
          </a:xfrm>
        </p:grpSpPr>
        <p:sp>
          <p:nvSpPr>
            <p:cNvPr id="401" name="Google Shape;401;p15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403" name="Google Shape;403;p15"/>
          <p:cNvGrpSpPr/>
          <p:nvPr/>
        </p:nvGrpSpPr>
        <p:grpSpPr>
          <a:xfrm>
            <a:off x="1243600" y="2717188"/>
            <a:ext cx="274209" cy="338103"/>
            <a:chOff x="1243600" y="1188825"/>
            <a:chExt cx="274209" cy="338103"/>
          </a:xfrm>
        </p:grpSpPr>
        <p:sp>
          <p:nvSpPr>
            <p:cNvPr id="404" name="Google Shape;404;p15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EA580C"/>
            </a:solidFill>
            <a:ln cap="flat" cmpd="sng" w="127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3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406" name="Google Shape;406;p15"/>
          <p:cNvGrpSpPr/>
          <p:nvPr/>
        </p:nvGrpSpPr>
        <p:grpSpPr>
          <a:xfrm>
            <a:off x="1243600" y="3476138"/>
            <a:ext cx="274209" cy="338103"/>
            <a:chOff x="1243600" y="1188825"/>
            <a:chExt cx="274209" cy="338103"/>
          </a:xfrm>
        </p:grpSpPr>
        <p:sp>
          <p:nvSpPr>
            <p:cNvPr id="407" name="Google Shape;407;p15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16A34A"/>
            </a:solidFill>
            <a:ln cap="flat" cmpd="sng" w="127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4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409" name="Google Shape;409;p15"/>
          <p:cNvGrpSpPr/>
          <p:nvPr/>
        </p:nvGrpSpPr>
        <p:grpSpPr>
          <a:xfrm>
            <a:off x="1243600" y="4235088"/>
            <a:ext cx="274209" cy="338103"/>
            <a:chOff x="1243600" y="1188825"/>
            <a:chExt cx="274209" cy="338103"/>
          </a:xfrm>
        </p:grpSpPr>
        <p:sp>
          <p:nvSpPr>
            <p:cNvPr id="410" name="Google Shape;410;p15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1A3A6B"/>
            </a:solidFill>
            <a:ln cap="flat" cmpd="sng" w="12700">
              <a:solidFill>
                <a:srgbClr val="1A3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5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412" name="Google Shape;412;p15"/>
          <p:cNvSpPr/>
          <p:nvPr/>
        </p:nvSpPr>
        <p:spPr>
          <a:xfrm>
            <a:off x="5148100" y="2670028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依據Jokar et al.描述的方法注入異常資料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0" y="1051560"/>
            <a:ext cx="109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資料層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170432" y="1143000"/>
            <a:ext cx="3657600" cy="502800"/>
          </a:xfrm>
          <a:prstGeom prst="rect">
            <a:avLst/>
          </a:prstGeom>
          <a:solidFill>
            <a:srgbClr val="EFF6FF"/>
          </a:solidFill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7" name="Google Shape;417;p15"/>
          <p:cNvSpPr/>
          <p:nvPr/>
        </p:nvSpPr>
        <p:spPr>
          <a:xfrm>
            <a:off x="1627625" y="1316675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523744" y="1261864"/>
            <a:ext cx="221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🗄️  </a:t>
            </a:r>
            <a:r>
              <a:rPr b="1"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UCI </a:t>
            </a:r>
            <a:r>
              <a:rPr lang="en-US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電力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資料集</a:t>
            </a:r>
            <a:endParaRPr b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5"/>
          <p:cNvCxnSpPr/>
          <p:nvPr/>
        </p:nvCxnSpPr>
        <p:spPr>
          <a:xfrm>
            <a:off x="4828032" y="1394460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0" name="Google Shape;420;p15"/>
          <p:cNvSpPr/>
          <p:nvPr/>
        </p:nvSpPr>
        <p:spPr>
          <a:xfrm>
            <a:off x="5056632" y="1161288"/>
            <a:ext cx="3831300" cy="466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5056632" y="1161288"/>
            <a:ext cx="50400" cy="466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5148100" y="1126099"/>
            <a:ext cx="369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80"/>
              <a:buFont typeface="Calibri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3-400多戶用電資料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5"/>
          <p:cNvGrpSpPr/>
          <p:nvPr/>
        </p:nvGrpSpPr>
        <p:grpSpPr>
          <a:xfrm>
            <a:off x="1243600" y="1199288"/>
            <a:ext cx="274209" cy="338103"/>
            <a:chOff x="1243600" y="1188825"/>
            <a:chExt cx="274209" cy="338103"/>
          </a:xfrm>
        </p:grpSpPr>
        <p:sp>
          <p:nvSpPr>
            <p:cNvPr id="424" name="Google Shape;424;p15"/>
            <p:cNvSpPr/>
            <p:nvPr/>
          </p:nvSpPr>
          <p:spPr>
            <a:xfrm>
              <a:off x="1243610" y="1252728"/>
              <a:ext cx="274200" cy="274200"/>
            </a:xfrm>
            <a:prstGeom prst="ellipse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 txBox="1"/>
            <p:nvPr/>
          </p:nvSpPr>
          <p:spPr>
            <a:xfrm>
              <a:off x="1243600" y="1188825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1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426" name="Google Shape;426;p15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7" name="Google Shape;427;p15"/>
          <p:cNvSpPr/>
          <p:nvPr/>
        </p:nvSpPr>
        <p:spPr>
          <a:xfrm>
            <a:off x="1607847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3009928" y="578828"/>
            <a:ext cx="1356300" cy="255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4412008" y="578828"/>
            <a:ext cx="1356300" cy="255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3" name="Google Shape;433;p15"/>
          <p:cNvSpPr/>
          <p:nvPr/>
        </p:nvSpPr>
        <p:spPr>
          <a:xfrm>
            <a:off x="5814097" y="578828"/>
            <a:ext cx="135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361950" y="0"/>
            <a:ext cx="804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第四章 結論 Conclusion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571500" y="1333500"/>
            <a:ext cx="3810000" cy="15240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571500" y="1333500"/>
            <a:ext cx="95400" cy="152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 txBox="1"/>
          <p:nvPr/>
        </p:nvSpPr>
        <p:spPr>
          <a:xfrm>
            <a:off x="857250" y="1476375"/>
            <a:ext cx="3333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✅ 系統架構完整性</a:t>
            </a:r>
            <a:endParaRPr b="1" sz="1800">
              <a:solidFill>
                <a:srgbClr val="1A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857250" y="1857375"/>
            <a:ext cx="333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成功整合從 UCI 電力資料層到 Streamlit 應用層的端對端架構。透過非監督式 AI 模型訓練，實現無需標記的異常偵測流程。</a:t>
            </a:r>
            <a:endParaRPr b="0"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4762500" y="1333500"/>
            <a:ext cx="3810000" cy="15240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762500" y="1333500"/>
            <a:ext cx="95400" cy="15240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5048250" y="1476375"/>
            <a:ext cx="3333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🚀 偵測效率與可視化</a:t>
            </a:r>
            <a:endParaRPr b="1" sz="1800">
              <a:solidFill>
                <a:srgbClr val="1A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5048250" y="1857375"/>
            <a:ext cx="333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模型具備快速隔離異常路徑之特性，並能將結果即時標示於時序圖中，顯著提升電力數據稽查的直觀性與效率。</a:t>
            </a:r>
            <a:endParaRPr b="0"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571500" y="3048000"/>
            <a:ext cx="8001000" cy="1524000"/>
          </a:xfrm>
          <a:prstGeom prst="roundRect">
            <a:avLst>
              <a:gd fmla="val 6250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857250" y="3190875"/>
            <a:ext cx="742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🌟 未來展望 Future Work</a:t>
            </a:r>
            <a:endParaRPr b="1" sz="1800">
              <a:solidFill>
                <a:srgbClr val="1A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857250" y="3571875"/>
            <a:ext cx="7429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特徵工程優化：引入更多外部變數（如天氣、節慶）提升預測準確度。</a:t>
            </a:r>
            <a:endParaRPr b="0"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模型部署優化：研究將偵測算法遷移至邊緣運算設備，降低延遲。</a:t>
            </a:r>
            <a:endParaRPr b="0"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4410075" y="571500"/>
            <a:ext cx="1352700" cy="2571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系統設計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3009900" y="571500"/>
            <a:ext cx="1352700" cy="2571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相關研究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1609725" y="571500"/>
            <a:ext cx="1352700" cy="2571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動機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810250" y="571500"/>
            <a:ext cx="1352700" cy="257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"/>
          <p:cNvSpPr txBox="1"/>
          <p:nvPr/>
        </p:nvSpPr>
        <p:spPr>
          <a:xfrm>
            <a:off x="5810250" y="571500"/>
            <a:ext cx="1352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6B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/>
          <p:nvPr/>
        </p:nvSpPr>
        <p:spPr>
          <a:xfrm>
            <a:off x="0" y="0"/>
            <a:ext cx="9144000" cy="1371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6583680" y="457200"/>
            <a:ext cx="2560200" cy="2560200"/>
          </a:xfrm>
          <a:prstGeom prst="ellipse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2" name="Google Shape;462;p17"/>
          <p:cNvSpPr/>
          <p:nvPr/>
        </p:nvSpPr>
        <p:spPr>
          <a:xfrm>
            <a:off x="7315200" y="2560320"/>
            <a:ext cx="1828800" cy="1828800"/>
          </a:xfrm>
          <a:prstGeom prst="ellipse">
            <a:avLst/>
          </a:prstGeom>
          <a:solidFill>
            <a:srgbClr val="2563EB">
              <a:alpha val="14900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3" name="Google Shape;463;p17"/>
          <p:cNvSpPr/>
          <p:nvPr/>
        </p:nvSpPr>
        <p:spPr>
          <a:xfrm>
            <a:off x="6217920" y="3200400"/>
            <a:ext cx="1097400" cy="1097400"/>
          </a:xfrm>
          <a:prstGeom prst="ellipse">
            <a:avLst/>
          </a:prstGeom>
          <a:solidFill>
            <a:srgbClr val="2563EB">
              <a:alpha val="25099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4" name="Google Shape;464;p17"/>
          <p:cNvSpPr/>
          <p:nvPr/>
        </p:nvSpPr>
        <p:spPr>
          <a:xfrm>
            <a:off x="457200" y="168883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600"/>
              <a:buFont typeface="Calibri"/>
              <a:buNone/>
            </a:pPr>
            <a:r>
              <a:rPr b="1" lang="en-US" sz="48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感謝聆聽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17"/>
          <p:cNvCxnSpPr/>
          <p:nvPr/>
        </p:nvCxnSpPr>
        <p:spPr>
          <a:xfrm>
            <a:off x="457200" y="251460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17"/>
          <p:cNvSpPr/>
          <p:nvPr/>
        </p:nvSpPr>
        <p:spPr>
          <a:xfrm>
            <a:off x="-543620" y="3200400"/>
            <a:ext cx="2560200" cy="2560200"/>
          </a:xfrm>
          <a:prstGeom prst="ellipse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7" name="Google Shape;467;p17"/>
          <p:cNvSpPr/>
          <p:nvPr/>
        </p:nvSpPr>
        <p:spPr>
          <a:xfrm>
            <a:off x="2016570" y="3653525"/>
            <a:ext cx="1097400" cy="1097400"/>
          </a:xfrm>
          <a:prstGeom prst="ellipse">
            <a:avLst/>
          </a:prstGeom>
          <a:solidFill>
            <a:srgbClr val="2563EB">
              <a:alpha val="25099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8" name="Google Shape;468;p17"/>
          <p:cNvSpPr/>
          <p:nvPr/>
        </p:nvSpPr>
        <p:spPr>
          <a:xfrm>
            <a:off x="2770000" y="4247470"/>
            <a:ext cx="1828800" cy="1828800"/>
          </a:xfrm>
          <a:prstGeom prst="ellipse">
            <a:avLst/>
          </a:prstGeom>
          <a:solidFill>
            <a:srgbClr val="2563EB">
              <a:alpha val="14900"/>
            </a:srgbClr>
          </a:solidFill>
          <a:ln cap="flat" cmpd="sng" w="1270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9" name="Google Shape;469;p17"/>
          <p:cNvSpPr/>
          <p:nvPr/>
        </p:nvSpPr>
        <p:spPr>
          <a:xfrm>
            <a:off x="0" y="5006340"/>
            <a:ext cx="9144000" cy="1371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